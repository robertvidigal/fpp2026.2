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304" r:id="rId6"/>
    <p:sldId id="261" r:id="rId7"/>
    <p:sldId id="262" r:id="rId8"/>
    <p:sldId id="263" r:id="rId9"/>
    <p:sldId id="264" r:id="rId10"/>
    <p:sldId id="293" r:id="rId11"/>
    <p:sldId id="265" r:id="rId12"/>
    <p:sldId id="303" r:id="rId13"/>
    <p:sldId id="305" r:id="rId14"/>
    <p:sldId id="282" r:id="rId15"/>
    <p:sldId id="283" r:id="rId16"/>
    <p:sldId id="306" r:id="rId17"/>
    <p:sldId id="285" r:id="rId18"/>
    <p:sldId id="287" r:id="rId19"/>
    <p:sldId id="286" r:id="rId20"/>
    <p:sldId id="288" r:id="rId21"/>
    <p:sldId id="289" r:id="rId22"/>
    <p:sldId id="284" r:id="rId23"/>
    <p:sldId id="29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323"/>
    <a:srgbClr val="083112"/>
    <a:srgbClr val="009051"/>
    <a:srgbClr val="094017"/>
    <a:srgbClr val="008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85068"/>
  </p:normalViewPr>
  <p:slideViewPr>
    <p:cSldViewPr snapToGrid="0" snapToObjects="1">
      <p:cViewPr varScale="1">
        <p:scale>
          <a:sx n="107" d="100"/>
          <a:sy n="107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C6423-62C1-CA48-B5FB-DB0832C077D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 para editar estilos de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8D294-05B5-074F-B71D-7A0ED249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3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1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78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42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18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6552-504C-4A5A-7060-AA5283F4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F1224-CAC7-179D-3E9F-FDCF0AC4C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3310B-B2B7-6D80-0918-836DE9CF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027EC-3657-302E-38CD-F7F9A3708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51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07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47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70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54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9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Introdução rápida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81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425E-1BE9-DD9A-D5AF-0106211A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CFE16-69DD-D0A2-6E56-0C29A576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7042D-36F3-1521-2D62-3732568FB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Introdução rápida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EF105-AAD1-B426-23D4-AD2E7C6B6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33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05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7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rápida caminhada do enquadramento e modelo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8D294-05B5-074F-B71D-7A0ED2497C6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25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37113" y="425740"/>
            <a:ext cx="1442167" cy="1499933"/>
          </a:xfrm>
          <a:custGeom>
            <a:avLst/>
            <a:gdLst/>
            <a:ahLst/>
            <a:cxnLst/>
            <a:rect l="0" t="0" r="0" b="0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rgbClr val="08632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 rot="10800000">
            <a:off x="10208635" y="5033948"/>
            <a:ext cx="1442167" cy="1499933"/>
          </a:xfrm>
          <a:custGeom>
            <a:avLst/>
            <a:gdLst/>
            <a:ahLst/>
            <a:cxnLst/>
            <a:rect l="0" t="0" r="0" b="0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rgbClr val="08632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4059600" y="1925673"/>
            <a:ext cx="40728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Clique para editar o estilo de título Master</a:t>
            </a:r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Clique para editar o estilo de legendas Master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78667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Clique para editar o estilo de título Master</a:t>
            </a:r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Clique para editar estilos de texto mestre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Clique para editar estilos de texto mestre</a:t>
            </a:r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11475910-5262-FF4A-8741-2279F8EB8C17}"/>
              </a:ext>
            </a:extLst>
          </p:cNvPr>
          <p:cNvSpPr/>
          <p:nvPr/>
        </p:nvSpPr>
        <p:spPr>
          <a:xfrm rot="10800000">
            <a:off x="10586045" y="5242490"/>
            <a:ext cx="1442167" cy="1499933"/>
          </a:xfrm>
          <a:custGeom>
            <a:avLst/>
            <a:gdLst/>
            <a:ahLst/>
            <a:cxnLst/>
            <a:rect l="0" t="0" r="0" b="0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rgbClr val="086323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01727E-B1E3-9A45-91AE-BDB256EBB7B5}"/>
              </a:ext>
            </a:extLst>
          </p:cNvPr>
          <p:cNvCxnSpPr/>
          <p:nvPr/>
        </p:nvCxnSpPr>
        <p:spPr>
          <a:xfrm>
            <a:off x="415600" y="1529633"/>
            <a:ext cx="4474899" cy="0"/>
          </a:xfrm>
          <a:prstGeom prst="line">
            <a:avLst/>
          </a:prstGeom>
          <a:ln w="28575">
            <a:solidFill>
              <a:srgbClr val="08632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62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rgbClr val="086323"/>
          </a:solidFill>
          <a:ln>
            <a:solidFill>
              <a:srgbClr val="086323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86323"/>
              </a:solidFill>
            </a:endParaRPr>
          </a:p>
        </p:txBody>
      </p:sp>
      <p:cxnSp>
        <p:nvCxnSpPr>
          <p:cNvPr id="43" name="Shape 43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600" cy="2381600"/>
          </a:xfrm>
          <a:prstGeom prst="rect">
            <a:avLst/>
          </a:prstGeom>
          <a:ln>
            <a:solidFill>
              <a:srgbClr val="086323"/>
            </a:solidFill>
          </a:ln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rgbClr val="08632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 dirty="0"/>
              <a:t>Clique para editar o estilo de título Master</a:t>
            </a:r>
            <a:endParaRPr dirty="0"/>
          </a:p>
        </p:txBody>
      </p:sp>
      <p:sp>
        <p:nvSpPr>
          <p:cNvPr id="45" name="Shape 45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Clique para editar o estilo de legendas Master</a:t>
            </a:r>
            <a:endParaRPr dirty="0"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Clique para editar estilos de texto mestre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698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rgbClr val="086323"/>
          </a:solidFill>
          <a:ln>
            <a:solidFill>
              <a:srgbClr val="086323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00000"/>
              </a:solidFill>
            </a:endParaRPr>
          </a:p>
        </p:txBody>
      </p:sp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415600" y="1276167"/>
            <a:ext cx="113608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rgbClr val="08632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9pPr>
          </a:lstStyle>
          <a:p>
            <a:r>
              <a:rPr lang="en-US" dirty="0"/>
              <a:t>Clique para editar o estilo de título Master</a:t>
            </a:r>
            <a:endParaRPr dirty="0"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Clique para editar estilos de texto mestre</a:t>
            </a:r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2392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295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7" r:id="rId3"/>
    <p:sldLayoutId id="214748367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gif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bertvidigal/FPP2026.2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nb.br/estudante/cultura-e-sociedade/acessibilidade" TargetMode="External"/><Relationship Id="rId2" Type="http://schemas.openxmlformats.org/officeDocument/2006/relationships/hyperlink" Target="https://unb.br/estudante/servicos/assistencia-estudanti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b.br/apoio-psicologico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gif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>
            <a:extLst>
              <a:ext uri="{FF2B5EF4-FFF2-40B4-BE49-F238E27FC236}">
                <a16:creationId xmlns:a16="http://schemas.microsoft.com/office/drawing/2014/main" id="{86201A7C-4117-4099-8D6E-10A14EDF6F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>
            <a:alphaModFix/>
          </a:blip>
          <a:srcRect r="-1" b="278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E15B30-59B2-DF4F-AD23-92BE130D02C9}"/>
              </a:ext>
            </a:extLst>
          </p:cNvPr>
          <p:cNvSpPr/>
          <p:nvPr/>
        </p:nvSpPr>
        <p:spPr>
          <a:xfrm>
            <a:off x="-4690" y="6192"/>
            <a:ext cx="12192000" cy="2417379"/>
          </a:xfrm>
          <a:prstGeom prst="rect">
            <a:avLst/>
          </a:prstGeom>
          <a:solidFill>
            <a:srgbClr val="083112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D8EC6-8BC4-7E46-B23B-1E0D737AE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156477"/>
            <a:ext cx="10190071" cy="1399191"/>
          </a:xfrm>
        </p:spPr>
        <p:txBody>
          <a:bodyPr anchor="b"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 err="1">
                <a:solidFill>
                  <a:schemeClr val="bg1"/>
                </a:solidFill>
              </a:rPr>
              <a:t>Fundamentos</a:t>
            </a:r>
            <a:r>
              <a:rPr lang="en-US" b="1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Políticas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Públicas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2026.2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CB895-7EEA-A142-AFEA-B1A996FD2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1646599"/>
            <a:ext cx="9781327" cy="686041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Segunda-</a:t>
            </a:r>
            <a:r>
              <a:rPr lang="en-US" sz="2200" b="1" dirty="0" err="1">
                <a:solidFill>
                  <a:schemeClr val="bg1"/>
                </a:solidFill>
              </a:rPr>
              <a:t>feira</a:t>
            </a:r>
            <a:r>
              <a:rPr lang="en-US" sz="2200" b="1" dirty="0">
                <a:solidFill>
                  <a:schemeClr val="bg1"/>
                </a:solidFill>
              </a:rPr>
              <a:t> e Quarta-</a:t>
            </a:r>
            <a:r>
              <a:rPr lang="en-US" sz="2200" b="1" dirty="0" err="1">
                <a:solidFill>
                  <a:schemeClr val="bg1"/>
                </a:solidFill>
              </a:rPr>
              <a:t>feira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20:50 – 22:30</a:t>
            </a:r>
          </a:p>
        </p:txBody>
      </p:sp>
    </p:spTree>
    <p:extLst>
      <p:ext uri="{BB962C8B-B14F-4D97-AF65-F5344CB8AC3E}">
        <p14:creationId xmlns:p14="http://schemas.microsoft.com/office/powerpoint/2010/main" val="114935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B25D-80C7-6241-ABEB-2AB8668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Bem-</a:t>
            </a:r>
            <a:r>
              <a:rPr lang="en-US" sz="3000" dirty="0" err="1"/>
              <a:t>vindos</a:t>
            </a:r>
            <a:r>
              <a:rPr lang="en-US" sz="3000" dirty="0"/>
              <a:t> e </a:t>
            </a:r>
            <a:r>
              <a:rPr lang="en-US" sz="3000" dirty="0" err="1"/>
              <a:t>bem-vindas</a:t>
            </a:r>
            <a:r>
              <a:rPr lang="en-US" sz="3000" dirty="0"/>
              <a:t>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28524-AD1D-E045-8FEB-521BF5F65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É</a:t>
            </a:r>
            <a:r>
              <a:rPr lang="en-US" b="1" dirty="0"/>
              <a:t> um </a:t>
            </a:r>
            <a:r>
              <a:rPr lang="en-US" b="1" dirty="0" err="1"/>
              <a:t>prazer</a:t>
            </a:r>
            <a:r>
              <a:rPr lang="en-US" b="1" dirty="0"/>
              <a:t> </a:t>
            </a:r>
            <a:r>
              <a:rPr lang="en-US" b="1" dirty="0" err="1"/>
              <a:t>conhecer</a:t>
            </a:r>
            <a:r>
              <a:rPr lang="en-US" b="1" dirty="0"/>
              <a:t> </a:t>
            </a:r>
            <a:r>
              <a:rPr lang="en-US" b="1" dirty="0" err="1"/>
              <a:t>todos</a:t>
            </a:r>
            <a:r>
              <a:rPr lang="en-US" b="1" dirty="0"/>
              <a:t>(as) </a:t>
            </a:r>
            <a:r>
              <a:rPr lang="en-US" b="1" dirty="0" err="1"/>
              <a:t>vocês</a:t>
            </a:r>
            <a:r>
              <a:rPr lang="en-US" b="1" dirty="0"/>
              <a:t>.</a:t>
            </a:r>
          </a:p>
          <a:p>
            <a:r>
              <a:rPr lang="en-US" dirty="0"/>
              <a:t>Introdução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curso</a:t>
            </a:r>
            <a:r>
              <a:rPr lang="en-US" dirty="0"/>
              <a:t>.</a:t>
            </a:r>
          </a:p>
          <a:p>
            <a:r>
              <a:rPr lang="en-US" dirty="0"/>
              <a:t>Dicas para o </a:t>
            </a:r>
            <a:r>
              <a:rPr lang="en-US" dirty="0" err="1"/>
              <a:t>sucesso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61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B25D-80C7-6241-ABEB-2AB8668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Sobre mim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28524-AD1D-E045-8FEB-521BF5F6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3633"/>
            <a:ext cx="6127704" cy="4472000"/>
          </a:xfrm>
        </p:spPr>
        <p:txBody>
          <a:bodyPr/>
          <a:lstStyle/>
          <a:p>
            <a:r>
              <a:rPr lang="en-US" dirty="0"/>
              <a:t>Robert Vidigal</a:t>
            </a:r>
          </a:p>
          <a:p>
            <a:r>
              <a:rPr lang="en-US" dirty="0"/>
              <a:t>Professor do Instituto de </a:t>
            </a:r>
            <a:r>
              <a:rPr lang="en-US" dirty="0" err="1"/>
              <a:t>Ciência</a:t>
            </a:r>
            <a:r>
              <a:rPr lang="en-US" dirty="0"/>
              <a:t> Política</a:t>
            </a:r>
          </a:p>
          <a:p>
            <a:r>
              <a:rPr lang="en-US" dirty="0" err="1"/>
              <a:t>Doutorado</a:t>
            </a:r>
            <a:r>
              <a:rPr lang="en-US" dirty="0"/>
              <a:t> e </a:t>
            </a:r>
            <a:r>
              <a:rPr lang="en-US" dirty="0" err="1"/>
              <a:t>pós-doutorado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Ciência</a:t>
            </a:r>
            <a:r>
              <a:rPr lang="en-US" dirty="0"/>
              <a:t> Política</a:t>
            </a:r>
          </a:p>
          <a:p>
            <a:r>
              <a:rPr lang="en-US" sz="2000" dirty="0" err="1"/>
              <a:t>Escritório</a:t>
            </a:r>
            <a:r>
              <a:rPr lang="en-US" sz="2000" dirty="0"/>
              <a:t>: IPOL/IREL A1 67/07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C7ED6-35F5-F43E-0E8E-089D8741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006" y="1853771"/>
            <a:ext cx="3425255" cy="342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9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C7EE95-6B2B-CC41-9773-35458F0108EF}"/>
              </a:ext>
            </a:extLst>
          </p:cNvPr>
          <p:cNvSpPr/>
          <p:nvPr/>
        </p:nvSpPr>
        <p:spPr>
          <a:xfrm>
            <a:off x="166255" y="4724400"/>
            <a:ext cx="2286000" cy="1995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F9D53-A58E-B141-8D3C-C558752F2546}"/>
              </a:ext>
            </a:extLst>
          </p:cNvPr>
          <p:cNvSpPr/>
          <p:nvPr/>
        </p:nvSpPr>
        <p:spPr>
          <a:xfrm>
            <a:off x="2092037" y="5015344"/>
            <a:ext cx="1690254" cy="1704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AF2DE-EC80-8143-8CA6-2F5C8982CEE7}"/>
              </a:ext>
            </a:extLst>
          </p:cNvPr>
          <p:cNvSpPr/>
          <p:nvPr/>
        </p:nvSpPr>
        <p:spPr>
          <a:xfrm>
            <a:off x="3306329" y="5541818"/>
            <a:ext cx="702543" cy="1177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AF36F-1A56-E745-89B2-9318D78ACBCB}"/>
              </a:ext>
            </a:extLst>
          </p:cNvPr>
          <p:cNvSpPr/>
          <p:nvPr/>
        </p:nvSpPr>
        <p:spPr>
          <a:xfrm>
            <a:off x="3933822" y="5735782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738BA7-5033-464A-8355-B11DEAF74531}"/>
              </a:ext>
            </a:extLst>
          </p:cNvPr>
          <p:cNvSpPr/>
          <p:nvPr/>
        </p:nvSpPr>
        <p:spPr>
          <a:xfrm>
            <a:off x="3544310" y="5638800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Mapa Brasil Cortiça com Divisas - Grande (60 x 61 cm)">
            <a:extLst>
              <a:ext uri="{FF2B5EF4-FFF2-40B4-BE49-F238E27FC236}">
                <a16:creationId xmlns:a16="http://schemas.microsoft.com/office/drawing/2014/main" id="{0E4F4E9E-333E-AF72-453A-04AB9DAF2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438" y="496982"/>
            <a:ext cx="7330043" cy="586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BBC1-DED5-8805-7014-C319DDCF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E07403-A05D-4765-62BB-9B42D6C7FB81}"/>
              </a:ext>
            </a:extLst>
          </p:cNvPr>
          <p:cNvSpPr/>
          <p:nvPr/>
        </p:nvSpPr>
        <p:spPr>
          <a:xfrm>
            <a:off x="2092037" y="5015344"/>
            <a:ext cx="1690254" cy="1704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3E1D3-F18D-B2B4-437C-B7E422CF389E}"/>
              </a:ext>
            </a:extLst>
          </p:cNvPr>
          <p:cNvSpPr/>
          <p:nvPr/>
        </p:nvSpPr>
        <p:spPr>
          <a:xfrm>
            <a:off x="3306329" y="5541818"/>
            <a:ext cx="702543" cy="1177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57CF0-DCB8-438D-0BFB-C387BE56DB28}"/>
              </a:ext>
            </a:extLst>
          </p:cNvPr>
          <p:cNvSpPr/>
          <p:nvPr/>
        </p:nvSpPr>
        <p:spPr>
          <a:xfrm>
            <a:off x="3933822" y="5735782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2E5B-96E6-470C-9A2E-BCE2EE3547B6}"/>
              </a:ext>
            </a:extLst>
          </p:cNvPr>
          <p:cNvSpPr/>
          <p:nvPr/>
        </p:nvSpPr>
        <p:spPr>
          <a:xfrm>
            <a:off x="3544310" y="5638800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Mapa Brasil Cortiça com Divisas - Grande (60 x 61 cm)">
            <a:extLst>
              <a:ext uri="{FF2B5EF4-FFF2-40B4-BE49-F238E27FC236}">
                <a16:creationId xmlns:a16="http://schemas.microsoft.com/office/drawing/2014/main" id="{B6918E51-9605-ABDC-8F6A-881159600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438" y="496982"/>
            <a:ext cx="7330043" cy="5864035"/>
          </a:xfrm>
          <a:prstGeom prst="rect">
            <a:avLst/>
          </a:prstGeom>
        </p:spPr>
      </p:pic>
      <p:pic>
        <p:nvPicPr>
          <p:cNvPr id="2" name="Picture 1" descr="Descubra Goiânia: A Capital Encantadora de Goiás">
            <a:extLst>
              <a:ext uri="{FF2B5EF4-FFF2-40B4-BE49-F238E27FC236}">
                <a16:creationId xmlns:a16="http://schemas.microsoft.com/office/drawing/2014/main" id="{861CC297-B213-BFC9-0F12-59BFC63BB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9" y="890649"/>
            <a:ext cx="2313853" cy="412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7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C7EE95-6B2B-CC41-9773-35458F0108EF}"/>
              </a:ext>
            </a:extLst>
          </p:cNvPr>
          <p:cNvSpPr/>
          <p:nvPr/>
        </p:nvSpPr>
        <p:spPr>
          <a:xfrm>
            <a:off x="166255" y="4724400"/>
            <a:ext cx="2286000" cy="1995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F9D53-A58E-B141-8D3C-C558752F2546}"/>
              </a:ext>
            </a:extLst>
          </p:cNvPr>
          <p:cNvSpPr/>
          <p:nvPr/>
        </p:nvSpPr>
        <p:spPr>
          <a:xfrm>
            <a:off x="2092037" y="5015344"/>
            <a:ext cx="1690254" cy="1704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AF2DE-EC80-8143-8CA6-2F5C8982CEE7}"/>
              </a:ext>
            </a:extLst>
          </p:cNvPr>
          <p:cNvSpPr/>
          <p:nvPr/>
        </p:nvSpPr>
        <p:spPr>
          <a:xfrm>
            <a:off x="3306329" y="5541818"/>
            <a:ext cx="702543" cy="1177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AF36F-1A56-E745-89B2-9318D78ACBCB}"/>
              </a:ext>
            </a:extLst>
          </p:cNvPr>
          <p:cNvSpPr/>
          <p:nvPr/>
        </p:nvSpPr>
        <p:spPr>
          <a:xfrm>
            <a:off x="3933822" y="5735782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738BA7-5033-464A-8355-B11DEAF74531}"/>
              </a:ext>
            </a:extLst>
          </p:cNvPr>
          <p:cNvSpPr/>
          <p:nvPr/>
        </p:nvSpPr>
        <p:spPr>
          <a:xfrm>
            <a:off x="3544310" y="5638800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p New York State Stock Illustrations – 6,941 Map New York State Stock  Illustrations, Vectors &amp; Clipart - Dreamstime">
            <a:extLst>
              <a:ext uri="{FF2B5EF4-FFF2-40B4-BE49-F238E27FC236}">
                <a16:creationId xmlns:a16="http://schemas.microsoft.com/office/drawing/2014/main" id="{27B52F80-CFD5-1D69-EF58-1FEBFCDC4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925" y="7797"/>
            <a:ext cx="8759094" cy="6711656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51F636DF-2E21-8848-A81A-DBC8A1D2424F}"/>
              </a:ext>
            </a:extLst>
          </p:cNvPr>
          <p:cNvSpPr/>
          <p:nvPr/>
        </p:nvSpPr>
        <p:spPr>
          <a:xfrm rot="352773">
            <a:off x="8815863" y="4481806"/>
            <a:ext cx="471055" cy="1219200"/>
          </a:xfrm>
          <a:prstGeom prst="downArrow">
            <a:avLst>
              <a:gd name="adj1" fmla="val 14706"/>
              <a:gd name="adj2" fmla="val 50000"/>
            </a:avLst>
          </a:prstGeom>
          <a:solidFill>
            <a:srgbClr val="009051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ony Brook University (SUNY) | Study New York">
            <a:extLst>
              <a:ext uri="{FF2B5EF4-FFF2-40B4-BE49-F238E27FC236}">
                <a16:creationId xmlns:a16="http://schemas.microsoft.com/office/drawing/2014/main" id="{7EF4BD93-F559-D5CF-AB01-94F42C35F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656" y="2214720"/>
            <a:ext cx="3184110" cy="212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1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C7EE95-6B2B-CC41-9773-35458F0108EF}"/>
              </a:ext>
            </a:extLst>
          </p:cNvPr>
          <p:cNvSpPr/>
          <p:nvPr/>
        </p:nvSpPr>
        <p:spPr>
          <a:xfrm>
            <a:off x="166255" y="4724400"/>
            <a:ext cx="2286000" cy="1995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F9D53-A58E-B141-8D3C-C558752F2546}"/>
              </a:ext>
            </a:extLst>
          </p:cNvPr>
          <p:cNvSpPr/>
          <p:nvPr/>
        </p:nvSpPr>
        <p:spPr>
          <a:xfrm>
            <a:off x="2092037" y="5015344"/>
            <a:ext cx="1690254" cy="1704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AF2DE-EC80-8143-8CA6-2F5C8982CEE7}"/>
              </a:ext>
            </a:extLst>
          </p:cNvPr>
          <p:cNvSpPr/>
          <p:nvPr/>
        </p:nvSpPr>
        <p:spPr>
          <a:xfrm>
            <a:off x="3306329" y="5541818"/>
            <a:ext cx="702543" cy="1177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AF36F-1A56-E745-89B2-9318D78ACBCB}"/>
              </a:ext>
            </a:extLst>
          </p:cNvPr>
          <p:cNvSpPr/>
          <p:nvPr/>
        </p:nvSpPr>
        <p:spPr>
          <a:xfrm>
            <a:off x="3933822" y="5735782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738BA7-5033-464A-8355-B11DEAF74531}"/>
              </a:ext>
            </a:extLst>
          </p:cNvPr>
          <p:cNvSpPr/>
          <p:nvPr/>
        </p:nvSpPr>
        <p:spPr>
          <a:xfrm>
            <a:off x="3544310" y="5638800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Map New York State Stock Illustrations – 6,941 Map New York State Stock  Illustrations, Vectors &amp; Clipart - Dreamstime">
            <a:extLst>
              <a:ext uri="{FF2B5EF4-FFF2-40B4-BE49-F238E27FC236}">
                <a16:creationId xmlns:a16="http://schemas.microsoft.com/office/drawing/2014/main" id="{04D8AA8C-C835-AE84-8794-DDF033C6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925" y="7796"/>
            <a:ext cx="8759094" cy="6711656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51F636DF-2E21-8848-A81A-DBC8A1D2424F}"/>
              </a:ext>
            </a:extLst>
          </p:cNvPr>
          <p:cNvSpPr/>
          <p:nvPr/>
        </p:nvSpPr>
        <p:spPr>
          <a:xfrm rot="16200000">
            <a:off x="6847895" y="5493325"/>
            <a:ext cx="471055" cy="1219200"/>
          </a:xfrm>
          <a:prstGeom prst="downArrow">
            <a:avLst>
              <a:gd name="adj1" fmla="val 14706"/>
              <a:gd name="adj2" fmla="val 50000"/>
            </a:avLst>
          </a:prstGeom>
          <a:solidFill>
            <a:srgbClr val="009051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New York University (NYU) - Profile, Rankings and Data | US News Best  Colleges">
            <a:extLst>
              <a:ext uri="{FF2B5EF4-FFF2-40B4-BE49-F238E27FC236}">
                <a16:creationId xmlns:a16="http://schemas.microsoft.com/office/drawing/2014/main" id="{EABEE9C1-AF3A-FCC8-6FCF-256EB2699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255" y="3985398"/>
            <a:ext cx="3870036" cy="25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9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5524C1B-8A20-9A42-A8A1-E703835D6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45" y="138546"/>
            <a:ext cx="10869340" cy="67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7EE95-6B2B-CC41-9773-35458F0108EF}"/>
              </a:ext>
            </a:extLst>
          </p:cNvPr>
          <p:cNvSpPr/>
          <p:nvPr/>
        </p:nvSpPr>
        <p:spPr>
          <a:xfrm>
            <a:off x="166255" y="4724400"/>
            <a:ext cx="2286000" cy="1995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F9D53-A58E-B141-8D3C-C558752F2546}"/>
              </a:ext>
            </a:extLst>
          </p:cNvPr>
          <p:cNvSpPr/>
          <p:nvPr/>
        </p:nvSpPr>
        <p:spPr>
          <a:xfrm>
            <a:off x="2092037" y="5015344"/>
            <a:ext cx="1690254" cy="1704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AF2DE-EC80-8143-8CA6-2F5C8982CEE7}"/>
              </a:ext>
            </a:extLst>
          </p:cNvPr>
          <p:cNvSpPr/>
          <p:nvPr/>
        </p:nvSpPr>
        <p:spPr>
          <a:xfrm>
            <a:off x="3306329" y="5541818"/>
            <a:ext cx="702543" cy="1177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AF36F-1A56-E745-89B2-9318D78ACBCB}"/>
              </a:ext>
            </a:extLst>
          </p:cNvPr>
          <p:cNvSpPr/>
          <p:nvPr/>
        </p:nvSpPr>
        <p:spPr>
          <a:xfrm>
            <a:off x="3933822" y="5735782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738BA7-5033-464A-8355-B11DEAF74531}"/>
              </a:ext>
            </a:extLst>
          </p:cNvPr>
          <p:cNvSpPr/>
          <p:nvPr/>
        </p:nvSpPr>
        <p:spPr>
          <a:xfrm>
            <a:off x="3544310" y="5638800"/>
            <a:ext cx="702543" cy="98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97A6BF16-2998-5146-8F90-9933FB1C1820}"/>
              </a:ext>
            </a:extLst>
          </p:cNvPr>
          <p:cNvSpPr/>
          <p:nvPr/>
        </p:nvSpPr>
        <p:spPr>
          <a:xfrm rot="18591992">
            <a:off x="7319883" y="3477674"/>
            <a:ext cx="254903" cy="659748"/>
          </a:xfrm>
          <a:prstGeom prst="downArrow">
            <a:avLst>
              <a:gd name="adj1" fmla="val 19748"/>
              <a:gd name="adj2" fmla="val 50000"/>
            </a:avLst>
          </a:prstGeom>
          <a:solidFill>
            <a:srgbClr val="009051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Visit Campus | Undergraduate Admissions | Vanderbilt University">
            <a:extLst>
              <a:ext uri="{FF2B5EF4-FFF2-40B4-BE49-F238E27FC236}">
                <a16:creationId xmlns:a16="http://schemas.microsoft.com/office/drawing/2014/main" id="{518D6A46-BFC7-7712-B956-EFB03FBFB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255" y="982831"/>
            <a:ext cx="4637790" cy="260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3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A453D-24C4-8476-60DB-C00DC669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980" y="772329"/>
            <a:ext cx="6852287" cy="575171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B7D747-C15E-214E-82CD-38631B1E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0" y="0"/>
            <a:ext cx="6637971" cy="647624"/>
          </a:xfrm>
        </p:spPr>
        <p:txBody>
          <a:bodyPr/>
          <a:lstStyle/>
          <a:p>
            <a:r>
              <a:rPr lang="en-US" sz="3000" b="1" dirty="0"/>
              <a:t>Escritório: IPOL/IREL A1 67/7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5FA0D97A-2E40-6E44-BD98-0FD33D360C06}"/>
              </a:ext>
            </a:extLst>
          </p:cNvPr>
          <p:cNvSpPr/>
          <p:nvPr/>
        </p:nvSpPr>
        <p:spPr>
          <a:xfrm rot="11998884">
            <a:off x="7239839" y="3096871"/>
            <a:ext cx="256645" cy="664257"/>
          </a:xfrm>
          <a:prstGeom prst="downArrow">
            <a:avLst>
              <a:gd name="adj1" fmla="val 14706"/>
              <a:gd name="adj2" fmla="val 50000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328835-F92D-3301-B16C-F85A65EDA41F}"/>
              </a:ext>
            </a:extLst>
          </p:cNvPr>
          <p:cNvSpPr/>
          <p:nvPr/>
        </p:nvSpPr>
        <p:spPr>
          <a:xfrm>
            <a:off x="5094514" y="1045029"/>
            <a:ext cx="1805050" cy="1092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5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B4B0-903B-AB40-8D04-B0E3D29E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Agora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vocês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DD92B-8C53-8E4E-B352-604F08AEF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6531466" cy="4472000"/>
          </a:xfrm>
        </p:spPr>
        <p:txBody>
          <a:bodyPr/>
          <a:lstStyle/>
          <a:p>
            <a:pPr marL="643462" indent="-457200">
              <a:buFont typeface="+mj-lt"/>
              <a:buAutoNum type="arabicPeriod"/>
            </a:pPr>
            <a:r>
              <a:rPr lang="en-US" dirty="0"/>
              <a:t>Nome e </a:t>
            </a:r>
            <a:r>
              <a:rPr lang="en-US" dirty="0" err="1"/>
              <a:t>sobrenome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prefere</a:t>
            </a:r>
            <a:r>
              <a:rPr lang="en-US" dirty="0"/>
              <a:t>?</a:t>
            </a:r>
          </a:p>
          <a:p>
            <a:pPr marL="643462" indent="-457200">
              <a:buFont typeface="+mj-lt"/>
              <a:buAutoNum type="arabicPeriod"/>
            </a:pPr>
            <a:r>
              <a:rPr lang="en-US" dirty="0" err="1"/>
              <a:t>Semestre</a:t>
            </a:r>
            <a:r>
              <a:rPr lang="en-US" dirty="0"/>
              <a:t> e </a:t>
            </a:r>
            <a:r>
              <a:rPr lang="en-US" dirty="0" err="1"/>
              <a:t>curso</a:t>
            </a:r>
            <a:r>
              <a:rPr lang="en-US" dirty="0"/>
              <a:t>?</a:t>
            </a:r>
          </a:p>
          <a:p>
            <a:pPr marL="643462" indent="-457200">
              <a:buFont typeface="+mj-lt"/>
              <a:buAutoNum type="arabicPeriod"/>
            </a:pPr>
            <a:r>
              <a:rPr lang="en-US" dirty="0"/>
              <a:t>De Brasilia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?</a:t>
            </a:r>
          </a:p>
          <a:p>
            <a:pPr marL="643462" indent="-457200">
              <a:buFont typeface="+mj-lt"/>
              <a:buAutoNum type="arabicPeriod"/>
            </a:pPr>
            <a:r>
              <a:rPr lang="en-US" dirty="0"/>
              <a:t>Por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matriculou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FPP?</a:t>
            </a:r>
          </a:p>
          <a:p>
            <a:pPr marL="643462" indent="-457200">
              <a:buFont typeface="+mj-lt"/>
              <a:buAutoNum type="arabicPeriod"/>
            </a:pPr>
            <a:r>
              <a:rPr lang="en-US" dirty="0"/>
              <a:t>Lugar favorito para comer no campus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quê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8592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B25D-80C7-6241-ABEB-2AB8668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Bem-vindos!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28524-AD1D-E045-8FEB-521BF5F65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ótimo</a:t>
            </a:r>
            <a:r>
              <a:rPr lang="en-US" dirty="0"/>
              <a:t> </a:t>
            </a: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mundo</a:t>
            </a:r>
            <a:r>
              <a:rPr lang="en-US" dirty="0"/>
              <a:t>!</a:t>
            </a:r>
          </a:p>
          <a:p>
            <a:r>
              <a:rPr lang="en-US" b="1" dirty="0" err="1">
                <a:solidFill>
                  <a:srgbClr val="086323"/>
                </a:solidFill>
              </a:rPr>
              <a:t>Introdução</a:t>
            </a:r>
            <a:r>
              <a:rPr lang="en-US" b="1" dirty="0">
                <a:solidFill>
                  <a:srgbClr val="086323"/>
                </a:solidFill>
              </a:rPr>
              <a:t> </a:t>
            </a:r>
            <a:r>
              <a:rPr lang="en-US" b="1" dirty="0" err="1">
                <a:solidFill>
                  <a:srgbClr val="086323"/>
                </a:solidFill>
              </a:rPr>
              <a:t>ao</a:t>
            </a:r>
            <a:r>
              <a:rPr lang="en-US" b="1" dirty="0">
                <a:solidFill>
                  <a:srgbClr val="086323"/>
                </a:solidFill>
              </a:rPr>
              <a:t> </a:t>
            </a:r>
            <a:r>
              <a:rPr lang="en-US" b="1" dirty="0" err="1">
                <a:solidFill>
                  <a:srgbClr val="086323"/>
                </a:solidFill>
              </a:rPr>
              <a:t>curso</a:t>
            </a:r>
            <a:endParaRPr lang="en-US" b="1" dirty="0">
              <a:solidFill>
                <a:srgbClr val="086323"/>
              </a:solidFill>
            </a:endParaRPr>
          </a:p>
          <a:p>
            <a:r>
              <a:rPr lang="en-US" dirty="0"/>
              <a:t>Dicas para o sucesso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74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9E68-F435-CE40-BC7F-0A09D7FB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Curva de </a:t>
            </a:r>
            <a:r>
              <a:rPr lang="en-US" b="1" dirty="0" err="1"/>
              <a:t>Notas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1F83D-EF94-1548-82EF-D529690AC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3633"/>
            <a:ext cx="10472794" cy="4472000"/>
          </a:xfrm>
        </p:spPr>
        <p:txBody>
          <a:bodyPr/>
          <a:lstStyle/>
          <a:p>
            <a:r>
              <a:rPr lang="en-US" dirty="0"/>
              <a:t>A nota final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normalizada</a:t>
            </a:r>
            <a:r>
              <a:rPr lang="en-US" dirty="0"/>
              <a:t> para que o grau mais alto </a:t>
            </a:r>
            <a:r>
              <a:rPr lang="en-US" dirty="0" err="1"/>
              <a:t>seja</a:t>
            </a:r>
            <a:r>
              <a:rPr lang="en-US" dirty="0"/>
              <a:t> 10,0</a:t>
            </a:r>
          </a:p>
          <a:p>
            <a:r>
              <a:rPr lang="en-US" dirty="0"/>
              <a:t>Então, se o </a:t>
            </a:r>
            <a:r>
              <a:rPr lang="en-US" dirty="0" err="1"/>
              <a:t>maior</a:t>
            </a:r>
            <a:r>
              <a:rPr lang="en-US" dirty="0"/>
              <a:t> nota </a:t>
            </a:r>
            <a:r>
              <a:rPr lang="en-US" dirty="0" err="1"/>
              <a:t>é</a:t>
            </a:r>
            <a:r>
              <a:rPr lang="en-US" dirty="0"/>
              <a:t> 9.7, todos recebem um extra de 0.3</a:t>
            </a:r>
          </a:p>
          <a:p>
            <a:endParaRPr lang="en-US" dirty="0"/>
          </a:p>
        </p:txBody>
      </p:sp>
      <p:pic>
        <p:nvPicPr>
          <p:cNvPr id="13316" name="Picture 4" descr="Opinion | Why We Should Stop Grading Students on a Curve - The New York  Times">
            <a:extLst>
              <a:ext uri="{FF2B5EF4-FFF2-40B4-BE49-F238E27FC236}">
                <a16:creationId xmlns:a16="http://schemas.microsoft.com/office/drawing/2014/main" id="{8ECF8768-645E-A64B-899B-BE4C8C490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320" y="2536763"/>
            <a:ext cx="6341354" cy="356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41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7DA3-CCAC-6006-0D5A-E1906D32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035E-CCD9-92F5-3F8D-65A4733D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Curva de </a:t>
            </a:r>
            <a:r>
              <a:rPr lang="en-US" b="1" dirty="0" err="1"/>
              <a:t>Notas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9CB9A-680D-D063-AE7B-9B806C325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3633"/>
            <a:ext cx="10472794" cy="4472000"/>
          </a:xfrm>
        </p:spPr>
        <p:txBody>
          <a:bodyPr/>
          <a:lstStyle/>
          <a:p>
            <a:r>
              <a:rPr lang="en-US" dirty="0"/>
              <a:t>A nota final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normalizada</a:t>
            </a:r>
            <a:r>
              <a:rPr lang="en-US" dirty="0"/>
              <a:t> para que o grau mais alto </a:t>
            </a:r>
            <a:r>
              <a:rPr lang="en-US" dirty="0" err="1"/>
              <a:t>seja</a:t>
            </a:r>
            <a:r>
              <a:rPr lang="en-US" dirty="0"/>
              <a:t> 10,0</a:t>
            </a:r>
          </a:p>
          <a:p>
            <a:r>
              <a:rPr lang="en-US" dirty="0"/>
              <a:t>Então, se o </a:t>
            </a:r>
            <a:r>
              <a:rPr lang="en-US" dirty="0" err="1"/>
              <a:t>maior</a:t>
            </a:r>
            <a:r>
              <a:rPr lang="en-US" dirty="0"/>
              <a:t> nota </a:t>
            </a:r>
            <a:r>
              <a:rPr lang="en-US" dirty="0" err="1"/>
              <a:t>é</a:t>
            </a:r>
            <a:r>
              <a:rPr lang="en-US" dirty="0"/>
              <a:t> 9.7, todos recebem um extra de 0.3</a:t>
            </a:r>
          </a:p>
          <a:p>
            <a:endParaRPr lang="en-US" dirty="0"/>
          </a:p>
          <a:p>
            <a:pPr marL="186262" indent="0">
              <a:buNone/>
            </a:pPr>
            <a:r>
              <a:rPr lang="en-US" dirty="0"/>
              <a:t>→ SS – superior (9,0 e 10,0, </a:t>
            </a:r>
            <a:r>
              <a:rPr lang="en-US" dirty="0" err="1"/>
              <a:t>valendo</a:t>
            </a:r>
            <a:r>
              <a:rPr lang="en-US" dirty="0"/>
              <a:t> 5 para o IRA);</a:t>
            </a:r>
            <a:br>
              <a:rPr lang="en-US" dirty="0"/>
            </a:br>
            <a:r>
              <a:rPr lang="en-US" dirty="0"/>
              <a:t>→ MS – </a:t>
            </a:r>
            <a:r>
              <a:rPr lang="en-US" dirty="0" err="1"/>
              <a:t>médio</a:t>
            </a:r>
            <a:r>
              <a:rPr lang="en-US" dirty="0"/>
              <a:t> superior (7,0 e 8,9, </a:t>
            </a:r>
            <a:r>
              <a:rPr lang="en-US" dirty="0" err="1"/>
              <a:t>valendo</a:t>
            </a:r>
            <a:r>
              <a:rPr lang="en-US" dirty="0"/>
              <a:t> 4 para o IRA);</a:t>
            </a:r>
            <a:br>
              <a:rPr lang="en-US" dirty="0"/>
            </a:br>
            <a:r>
              <a:rPr lang="en-US" dirty="0"/>
              <a:t>→ MM – </a:t>
            </a:r>
            <a:r>
              <a:rPr lang="en-US" dirty="0" err="1"/>
              <a:t>médio</a:t>
            </a:r>
            <a:r>
              <a:rPr lang="en-US" dirty="0"/>
              <a:t> (5,0 e 6,9, </a:t>
            </a:r>
            <a:r>
              <a:rPr lang="en-US" dirty="0" err="1"/>
              <a:t>valendo</a:t>
            </a:r>
            <a:r>
              <a:rPr lang="en-US" dirty="0"/>
              <a:t> 3 para o IRA);</a:t>
            </a:r>
            <a:br>
              <a:rPr lang="en-US" dirty="0"/>
            </a:br>
            <a:r>
              <a:rPr lang="en-US" dirty="0"/>
              <a:t>→ MI – </a:t>
            </a:r>
            <a:r>
              <a:rPr lang="en-US" dirty="0" err="1"/>
              <a:t>médio</a:t>
            </a:r>
            <a:r>
              <a:rPr lang="en-US" dirty="0"/>
              <a:t> inferior (3,0 e 4,9, </a:t>
            </a:r>
            <a:r>
              <a:rPr lang="en-US" dirty="0" err="1"/>
              <a:t>valendo</a:t>
            </a:r>
            <a:r>
              <a:rPr lang="en-US" dirty="0"/>
              <a:t> 2 para o IRA);</a:t>
            </a:r>
            <a:br>
              <a:rPr lang="en-US" dirty="0"/>
            </a:br>
            <a:r>
              <a:rPr lang="en-US" dirty="0"/>
              <a:t>→ II – inferior (0,1 e 2,9, </a:t>
            </a:r>
            <a:r>
              <a:rPr lang="en-US" dirty="0" err="1"/>
              <a:t>valendo</a:t>
            </a:r>
            <a:r>
              <a:rPr lang="en-US" dirty="0"/>
              <a:t> 1 para o IRA);</a:t>
            </a:r>
            <a:br>
              <a:rPr lang="en-US" dirty="0"/>
            </a:br>
            <a:r>
              <a:rPr lang="en-US" dirty="0"/>
              <a:t>→ SR –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rendimento</a:t>
            </a:r>
            <a:r>
              <a:rPr lang="en-US" dirty="0"/>
              <a:t> (nota zero, </a:t>
            </a:r>
            <a:r>
              <a:rPr lang="en-US" dirty="0" err="1"/>
              <a:t>valendo</a:t>
            </a:r>
            <a:r>
              <a:rPr lang="en-US" dirty="0"/>
              <a:t> 0 para o IRA).</a:t>
            </a:r>
          </a:p>
          <a:p>
            <a:pPr marL="186262" indent="0">
              <a:buNone/>
            </a:pPr>
            <a:br>
              <a:rPr lang="en-US" dirty="0"/>
            </a:br>
            <a:r>
              <a:rPr lang="en-US" dirty="0"/>
              <a:t>São </a:t>
            </a:r>
            <a:r>
              <a:rPr lang="en-US" dirty="0" err="1"/>
              <a:t>menções</a:t>
            </a:r>
            <a:r>
              <a:rPr lang="en-US" dirty="0"/>
              <a:t> de </a:t>
            </a:r>
            <a:r>
              <a:rPr lang="en-US" dirty="0" err="1"/>
              <a:t>aprovação</a:t>
            </a:r>
            <a:r>
              <a:rPr lang="en-US" dirty="0"/>
              <a:t>: SS, MS e MM. São </a:t>
            </a:r>
            <a:r>
              <a:rPr lang="en-US" dirty="0" err="1"/>
              <a:t>menções</a:t>
            </a:r>
            <a:r>
              <a:rPr lang="en-US" dirty="0"/>
              <a:t> de </a:t>
            </a:r>
            <a:r>
              <a:rPr lang="en-US" dirty="0" err="1"/>
              <a:t>reprovação</a:t>
            </a:r>
            <a:r>
              <a:rPr lang="en-US" dirty="0"/>
              <a:t>: MI, II e SR.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22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B25D-80C7-6241-ABEB-2AB8668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Bem-vindos!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28524-AD1D-E045-8FEB-521BF5F6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9417169" cy="4472000"/>
          </a:xfrm>
        </p:spPr>
        <p:txBody>
          <a:bodyPr/>
          <a:lstStyle/>
          <a:p>
            <a:r>
              <a:rPr lang="en-US" dirty="0"/>
              <a:t>É ótimo </a:t>
            </a: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e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vocês</a:t>
            </a:r>
            <a:endParaRPr lang="en-US" dirty="0"/>
          </a:p>
          <a:p>
            <a:r>
              <a:rPr lang="en-US" dirty="0" err="1">
                <a:solidFill>
                  <a:schemeClr val="tx1"/>
                </a:solidFill>
              </a:rPr>
              <a:t>Introdução</a:t>
            </a:r>
            <a:r>
              <a:rPr lang="en-US" dirty="0">
                <a:solidFill>
                  <a:schemeClr val="tx1"/>
                </a:solidFill>
              </a:rPr>
              <a:t> ao curso</a:t>
            </a:r>
          </a:p>
          <a:p>
            <a:r>
              <a:rPr lang="en-US" b="1" dirty="0">
                <a:solidFill>
                  <a:srgbClr val="086323"/>
                </a:solidFill>
              </a:rPr>
              <a:t>Dicas para o sucesso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1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31BA-72E2-CD49-99C2-5BC5362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ementa</a:t>
            </a:r>
            <a:r>
              <a:rPr lang="en-US" dirty="0"/>
              <a:t>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19AF-CED2-054D-B3AD-FC0715EFC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6262" indent="0">
              <a:buNone/>
            </a:pPr>
            <a:r>
              <a:rPr lang="en-US" dirty="0">
                <a:hlinkClick r:id="rId2"/>
              </a:rPr>
              <a:t>https://github.com/robertvidigal/FPP2026.2/</a:t>
            </a:r>
            <a:r>
              <a:rPr lang="en-US" dirty="0"/>
              <a:t> 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 err="1"/>
              <a:t>Avisos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da </a:t>
            </a:r>
            <a:r>
              <a:rPr lang="en-US" dirty="0" err="1"/>
              <a:t>turma</a:t>
            </a:r>
            <a:endParaRPr lang="en-US" dirty="0"/>
          </a:p>
          <a:p>
            <a:pPr lvl="1"/>
            <a:r>
              <a:rPr lang="en-US" dirty="0"/>
              <a:t>Vai ter aula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Vai ter </a:t>
            </a:r>
            <a:r>
              <a:rPr lang="en-US" dirty="0" err="1"/>
              <a:t>apresentação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Vai ter </a:t>
            </a:r>
            <a:r>
              <a:rPr lang="en-US" dirty="0" err="1"/>
              <a:t>prova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0261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708B-262C-E9C9-D1C0-54687ED8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F689-8643-2D0F-C127-BB67C0DF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Bem-vindos!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034EE-96B3-9B14-7515-D970EF83A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9417169" cy="4472000"/>
          </a:xfrm>
        </p:spPr>
        <p:txBody>
          <a:bodyPr/>
          <a:lstStyle/>
          <a:p>
            <a:r>
              <a:rPr lang="en-US" dirty="0"/>
              <a:t>É ótimo </a:t>
            </a: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e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vocês</a:t>
            </a:r>
            <a:endParaRPr lang="en-US" dirty="0"/>
          </a:p>
          <a:p>
            <a:r>
              <a:rPr lang="en-US" dirty="0" err="1">
                <a:solidFill>
                  <a:schemeClr val="tx1"/>
                </a:solidFill>
              </a:rPr>
              <a:t>Introdução</a:t>
            </a:r>
            <a:r>
              <a:rPr lang="en-US" dirty="0">
                <a:solidFill>
                  <a:schemeClr val="tx1"/>
                </a:solidFill>
              </a:rPr>
              <a:t> ao curso</a:t>
            </a:r>
          </a:p>
          <a:p>
            <a:r>
              <a:rPr lang="en-US" b="1" dirty="0">
                <a:solidFill>
                  <a:srgbClr val="086323"/>
                </a:solidFill>
              </a:rPr>
              <a:t>Dicas para o </a:t>
            </a:r>
            <a:r>
              <a:rPr lang="en-US" b="1" dirty="0" err="1">
                <a:solidFill>
                  <a:srgbClr val="086323"/>
                </a:solidFill>
              </a:rPr>
              <a:t>sucesso</a:t>
            </a:r>
            <a:endParaRPr lang="en-US" b="1" dirty="0">
              <a:solidFill>
                <a:srgbClr val="086323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7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31BA-72E2-CD49-99C2-5BC5362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como um profissional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19AF-CED2-054D-B3AD-FC0715EFC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11198469" cy="4472000"/>
          </a:xfrm>
        </p:spPr>
        <p:txBody>
          <a:bodyPr/>
          <a:lstStyle/>
          <a:p>
            <a:r>
              <a:rPr lang="en-US" dirty="0"/>
              <a:t>Esta é a principal maneira de </a:t>
            </a:r>
            <a:r>
              <a:rPr lang="en-US" dirty="0" err="1"/>
              <a:t>comunicar</a:t>
            </a:r>
            <a:r>
              <a:rPr lang="en-US" dirty="0"/>
              <a:t> para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individuais</a:t>
            </a:r>
            <a:r>
              <a:rPr lang="en-US" dirty="0"/>
              <a:t>, </a:t>
            </a:r>
            <a:r>
              <a:rPr lang="en-US" dirty="0" err="1"/>
              <a:t>trabalhos</a:t>
            </a:r>
            <a:r>
              <a:rPr lang="en-US" dirty="0"/>
              <a:t> e </a:t>
            </a:r>
            <a:r>
              <a:rPr lang="en-US" dirty="0" err="1"/>
              <a:t>provas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Trata</a:t>
            </a:r>
            <a:r>
              <a:rPr lang="en-US" dirty="0"/>
              <a:t>-se de uma interação profissional por isso deve ser formal.</a:t>
            </a:r>
          </a:p>
          <a:p>
            <a:endParaRPr lang="en-US" dirty="0"/>
          </a:p>
          <a:p>
            <a:r>
              <a:rPr lang="en-US" dirty="0"/>
              <a:t>Usar um </a:t>
            </a:r>
            <a:r>
              <a:rPr lang="en-US" dirty="0" err="1"/>
              <a:t>assunto</a:t>
            </a:r>
            <a:r>
              <a:rPr lang="en-US" dirty="0"/>
              <a:t>/</a:t>
            </a:r>
            <a:r>
              <a:rPr lang="en-US" dirty="0" err="1"/>
              <a:t>título</a:t>
            </a:r>
            <a:r>
              <a:rPr lang="en-US" dirty="0"/>
              <a:t> para o email.</a:t>
            </a:r>
          </a:p>
          <a:p>
            <a:endParaRPr lang="en-US" dirty="0"/>
          </a:p>
          <a:p>
            <a:r>
              <a:rPr lang="en-US" dirty="0"/>
              <a:t>Seja conciso e </a:t>
            </a:r>
            <a:r>
              <a:rPr lang="en-US" dirty="0" err="1"/>
              <a:t>direto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e-mails são para sempre!</a:t>
            </a:r>
          </a:p>
        </p:txBody>
      </p:sp>
    </p:spTree>
    <p:extLst>
      <p:ext uri="{BB962C8B-B14F-4D97-AF65-F5344CB8AC3E}">
        <p14:creationId xmlns:p14="http://schemas.microsoft.com/office/powerpoint/2010/main" val="348286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31BA-72E2-CD49-99C2-5BC5362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E-mail NÃO </a:t>
            </a:r>
            <a:r>
              <a:rPr lang="en-US" dirty="0" err="1"/>
              <a:t>profissional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19AF-CED2-054D-B3AD-FC0715EFC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7054345" cy="4472000"/>
          </a:xfrm>
        </p:spPr>
        <p:txBody>
          <a:bodyPr/>
          <a:lstStyle/>
          <a:p>
            <a:pPr marL="186262" indent="0">
              <a:buNone/>
            </a:pPr>
            <a:r>
              <a:rPr lang="en-US" dirty="0"/>
              <a:t>Para: </a:t>
            </a:r>
            <a:r>
              <a:rPr lang="en-US"/>
              <a:t>robert.vidigal@unb.br</a:t>
            </a:r>
            <a:endParaRPr lang="en-US" dirty="0"/>
          </a:p>
          <a:p>
            <a:pPr marL="186262" indent="0">
              <a:buNone/>
            </a:pPr>
            <a:r>
              <a:rPr lang="en-US" dirty="0"/>
              <a:t>De: tswift4ever@hotmail.com </a:t>
            </a:r>
          </a:p>
          <a:p>
            <a:pPr marL="186262" indent="0">
              <a:buNone/>
            </a:pPr>
            <a:br>
              <a:rPr lang="en-US" dirty="0"/>
            </a:br>
            <a:r>
              <a:rPr lang="en-US" dirty="0" err="1"/>
              <a:t>Assunto</a:t>
            </a:r>
            <a:r>
              <a:rPr lang="en-US" dirty="0"/>
              <a:t>: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 err="1"/>
              <a:t>Então</a:t>
            </a:r>
            <a:r>
              <a:rPr lang="en-US" dirty="0"/>
              <a:t> Prof, </a:t>
            </a:r>
          </a:p>
          <a:p>
            <a:pPr marL="186262" indent="0">
              <a:buNone/>
            </a:pPr>
            <a:r>
              <a:rPr lang="en-US" dirty="0"/>
              <a:t>Quando é o prova final?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 err="1"/>
              <a:t>Valeeeu</a:t>
            </a:r>
            <a:r>
              <a:rPr lang="en-US" dirty="0"/>
              <a:t>! TMJ</a:t>
            </a:r>
          </a:p>
        </p:txBody>
      </p:sp>
    </p:spTree>
    <p:extLst>
      <p:ext uri="{BB962C8B-B14F-4D97-AF65-F5344CB8AC3E}">
        <p14:creationId xmlns:p14="http://schemas.microsoft.com/office/powerpoint/2010/main" val="2185577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31BA-72E2-CD49-99C2-5BC5362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</a:t>
            </a:r>
            <a:r>
              <a:rPr lang="en-US" dirty="0" err="1"/>
              <a:t>profissional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19AF-CED2-054D-B3AD-FC0715EFC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7054345" cy="4472000"/>
          </a:xfrm>
        </p:spPr>
        <p:txBody>
          <a:bodyPr/>
          <a:lstStyle/>
          <a:p>
            <a:pPr marL="186262" indent="0">
              <a:buNone/>
            </a:pPr>
            <a:r>
              <a:rPr lang="en-US" dirty="0"/>
              <a:t>Para: : </a:t>
            </a:r>
            <a:r>
              <a:rPr lang="en-US" dirty="0" err="1"/>
              <a:t>robert.vidigal@unb.br</a:t>
            </a:r>
            <a:endParaRPr lang="en-US" dirty="0"/>
          </a:p>
          <a:p>
            <a:pPr marL="186262" indent="0">
              <a:buNone/>
            </a:pPr>
            <a:r>
              <a:rPr lang="en-US" dirty="0"/>
              <a:t>De: </a:t>
            </a:r>
            <a:r>
              <a:rPr lang="en-US" dirty="0" err="1"/>
              <a:t>estudante@unb.br</a:t>
            </a:r>
            <a:endParaRPr lang="en-US" dirty="0"/>
          </a:p>
          <a:p>
            <a:pPr marL="186262" indent="0">
              <a:buNone/>
            </a:pPr>
            <a:r>
              <a:rPr lang="en-US" dirty="0"/>
              <a:t>Objeto: FPP2026.2 - </a:t>
            </a:r>
            <a:r>
              <a:rPr lang="en-US" dirty="0" err="1"/>
              <a:t>Pergunta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prova</a:t>
            </a:r>
            <a:r>
              <a:rPr lang="en-US" dirty="0"/>
              <a:t> final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/>
              <a:t>Caro Professor Vidigal,</a:t>
            </a:r>
            <a:br>
              <a:rPr lang="en-US" dirty="0"/>
            </a:br>
            <a:endParaRPr lang="en-US" dirty="0"/>
          </a:p>
          <a:p>
            <a:pPr marL="186262" indent="0">
              <a:buNone/>
            </a:pPr>
            <a:r>
              <a:rPr lang="en-US" dirty="0"/>
              <a:t>Estou escrevendo com uma pergunta sobre o prova final. Olhei para o programa, mas não consegui encontrar a resposta sobre XYZ.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perguntei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meus </a:t>
            </a:r>
            <a:r>
              <a:rPr lang="en-US" dirty="0" err="1"/>
              <a:t>colegas</a:t>
            </a:r>
            <a:r>
              <a:rPr lang="en-US" dirty="0"/>
              <a:t> e </a:t>
            </a:r>
            <a:r>
              <a:rPr lang="en-US" dirty="0" err="1"/>
              <a:t>ninguém</a:t>
            </a:r>
            <a:r>
              <a:rPr lang="en-US" dirty="0"/>
              <a:t> sabia me responder. Podemos </a:t>
            </a:r>
            <a:r>
              <a:rPr lang="en-US" dirty="0" err="1"/>
              <a:t>marcar</a:t>
            </a:r>
            <a:r>
              <a:rPr lang="en-US" dirty="0"/>
              <a:t> um </a:t>
            </a:r>
            <a:r>
              <a:rPr lang="en-US" dirty="0" err="1"/>
              <a:t>horário</a:t>
            </a:r>
            <a:r>
              <a:rPr lang="en-US" dirty="0"/>
              <a:t> no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escritório</a:t>
            </a:r>
            <a:r>
              <a:rPr lang="en-US" dirty="0"/>
              <a:t> para </a:t>
            </a:r>
            <a:r>
              <a:rPr lang="en-US" dirty="0" err="1"/>
              <a:t>esclarecer</a:t>
            </a:r>
            <a:r>
              <a:rPr lang="en-US" dirty="0"/>
              <a:t> a situação?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obrigado</a:t>
            </a:r>
            <a:r>
              <a:rPr lang="en-US" dirty="0"/>
              <a:t>,</a:t>
            </a:r>
          </a:p>
          <a:p>
            <a:pPr marL="186262" indent="0">
              <a:buNone/>
            </a:pPr>
            <a:r>
              <a:rPr lang="en-US" dirty="0"/>
              <a:t>[Seu nome aqui]</a:t>
            </a:r>
          </a:p>
        </p:txBody>
      </p:sp>
    </p:spTree>
    <p:extLst>
      <p:ext uri="{BB962C8B-B14F-4D97-AF65-F5344CB8AC3E}">
        <p14:creationId xmlns:p14="http://schemas.microsoft.com/office/powerpoint/2010/main" val="210803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074B-B3CD-6B46-B505-005362DA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Horário de horário de atendimento! Para que servem?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85D9B-62C7-2046-A19F-C7D7A7021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8404843" cy="4472000"/>
          </a:xfrm>
        </p:spPr>
        <p:txBody>
          <a:bodyPr/>
          <a:lstStyle/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Terça-feira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 quinta-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feira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das 18:00 – 19:00 no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IPOL/IREL A1 67/07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US" dirty="0"/>
          </a:p>
          <a:p>
            <a:r>
              <a:rPr lang="en-US" dirty="0" err="1"/>
              <a:t>Apresentar</a:t>
            </a:r>
            <a:r>
              <a:rPr lang="en-US" dirty="0"/>
              <a:t>-se e </a:t>
            </a:r>
            <a:r>
              <a:rPr lang="en-US" dirty="0" err="1"/>
              <a:t>conversar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o </a:t>
            </a:r>
            <a:r>
              <a:rPr lang="en-US" dirty="0" err="1"/>
              <a:t>curso</a:t>
            </a:r>
            <a:r>
              <a:rPr lang="en-US" dirty="0"/>
              <a:t>.</a:t>
            </a:r>
          </a:p>
          <a:p>
            <a:r>
              <a:rPr lang="en-US" dirty="0" err="1"/>
              <a:t>Avaliar</a:t>
            </a:r>
            <a:r>
              <a:rPr lang="en-US" dirty="0"/>
              <a:t> seu desempenho e obter dicas de </a:t>
            </a:r>
            <a:r>
              <a:rPr lang="en-US" dirty="0" err="1"/>
              <a:t>estudo</a:t>
            </a:r>
            <a:r>
              <a:rPr lang="en-US" dirty="0"/>
              <a:t>.</a:t>
            </a:r>
          </a:p>
          <a:p>
            <a:r>
              <a:rPr lang="en-US" dirty="0" err="1"/>
              <a:t>Clarear</a:t>
            </a:r>
            <a:r>
              <a:rPr lang="en-US" dirty="0"/>
              <a:t> </a:t>
            </a:r>
            <a:r>
              <a:rPr lang="en-US" dirty="0" err="1"/>
              <a:t>confusões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 </a:t>
            </a:r>
            <a:r>
              <a:rPr lang="en-US" dirty="0" err="1"/>
              <a:t>estudados</a:t>
            </a:r>
            <a:r>
              <a:rPr lang="en-US" dirty="0"/>
              <a:t>.</a:t>
            </a:r>
          </a:p>
          <a:p>
            <a:r>
              <a:rPr lang="en-US" dirty="0"/>
              <a:t>Ajuda a pensar em outros cursos para </a:t>
            </a:r>
            <a:r>
              <a:rPr lang="en-US" dirty="0" err="1"/>
              <a:t>fazer</a:t>
            </a:r>
            <a:r>
              <a:rPr lang="en-US" dirty="0"/>
              <a:t>.</a:t>
            </a:r>
          </a:p>
          <a:p>
            <a:r>
              <a:rPr lang="en-US" dirty="0"/>
              <a:t>Discutir pedidos/</a:t>
            </a:r>
            <a:r>
              <a:rPr lang="en-US" dirty="0" err="1"/>
              <a:t>circunstâncias</a:t>
            </a:r>
            <a:r>
              <a:rPr lang="en-US" dirty="0"/>
              <a:t> </a:t>
            </a:r>
            <a:r>
              <a:rPr lang="en-US" dirty="0" err="1"/>
              <a:t>especiais</a:t>
            </a:r>
            <a:r>
              <a:rPr lang="en-US" dirty="0"/>
              <a:t>.</a:t>
            </a:r>
          </a:p>
          <a:p>
            <a:pPr marL="186262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6979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1D7E-2EA6-684C-BE79-24B4980E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Peça</a:t>
            </a:r>
            <a:r>
              <a:rPr lang="en-US" dirty="0"/>
              <a:t> ajuda!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5DAB2-0636-5F47-923F-7A7557A13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3633"/>
            <a:ext cx="9178566" cy="4472000"/>
          </a:xfrm>
        </p:spPr>
        <p:txBody>
          <a:bodyPr/>
          <a:lstStyle/>
          <a:p>
            <a:r>
              <a:rPr lang="en-US" dirty="0"/>
              <a:t>Para mim: </a:t>
            </a:r>
            <a:r>
              <a:rPr lang="en-US" dirty="0" err="1"/>
              <a:t>por</a:t>
            </a:r>
            <a:r>
              <a:rPr lang="en-US" dirty="0"/>
              <a:t> e-mail ou no </a:t>
            </a:r>
            <a:r>
              <a:rPr lang="en-US" dirty="0" err="1"/>
              <a:t>horário</a:t>
            </a:r>
            <a:r>
              <a:rPr lang="en-US" dirty="0"/>
              <a:t> de atendimento</a:t>
            </a:r>
          </a:p>
          <a:p>
            <a:endParaRPr lang="en-US" dirty="0"/>
          </a:p>
          <a:p>
            <a:r>
              <a:rPr lang="en-US" dirty="0" err="1"/>
              <a:t>Assistência</a:t>
            </a:r>
            <a:r>
              <a:rPr lang="en-US" dirty="0"/>
              <a:t> </a:t>
            </a:r>
            <a:r>
              <a:rPr lang="en-US" dirty="0" err="1"/>
              <a:t>estudantil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https://unb.br/estudante/servicos/assistencia-estudantil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Diretoria</a:t>
            </a:r>
            <a:r>
              <a:rPr lang="en-US" dirty="0"/>
              <a:t> de </a:t>
            </a:r>
            <a:r>
              <a:rPr lang="en-US" dirty="0" err="1"/>
              <a:t>acessibilidade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https://unb.br/estudante/cultura-e-sociedade/acessibilidade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Serviços de saúde mental: </a:t>
            </a:r>
            <a:r>
              <a:rPr lang="en-US" dirty="0">
                <a:hlinkClick r:id="rId4"/>
              </a:rPr>
              <a:t>https://unb.br/apoio-psicologico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775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52BB-F8D9-C94B-AFCD-59BF968A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Dicas para o sucesso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A9D65-09F3-9E42-86B3-3E03FB635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633633"/>
            <a:ext cx="6175205" cy="4472000"/>
          </a:xfrm>
        </p:spPr>
        <p:txBody>
          <a:bodyPr/>
          <a:lstStyle/>
          <a:p>
            <a:pPr marL="643462" indent="-457200">
              <a:buAutoNum type="arabicParenR"/>
            </a:pP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ementa</a:t>
            </a:r>
            <a:r>
              <a:rPr lang="en-US" dirty="0"/>
              <a:t>!</a:t>
            </a:r>
          </a:p>
          <a:p>
            <a:pPr marL="643462" indent="-457200">
              <a:buAutoNum type="arabicParenR"/>
            </a:pPr>
            <a:r>
              <a:rPr lang="en-US" dirty="0" err="1"/>
              <a:t>Pergunte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colegas</a:t>
            </a:r>
            <a:r>
              <a:rPr lang="en-US" dirty="0"/>
              <a:t>!</a:t>
            </a:r>
          </a:p>
          <a:p>
            <a:pPr marL="643462" indent="-457200">
              <a:buAutoNum type="arabicParenR"/>
            </a:pPr>
            <a:r>
              <a:rPr lang="en-US" dirty="0"/>
              <a:t>Email como um professional!</a:t>
            </a:r>
          </a:p>
          <a:p>
            <a:pPr marL="643462" indent="-457200">
              <a:buAutoNum type="arabicParenR"/>
            </a:pPr>
            <a:r>
              <a:rPr lang="en-US" dirty="0" err="1"/>
              <a:t>Peça</a:t>
            </a:r>
            <a:r>
              <a:rPr lang="en-US" dirty="0"/>
              <a:t> </a:t>
            </a:r>
            <a:r>
              <a:rPr lang="en-US" dirty="0" err="1"/>
              <a:t>ajuda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85284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>
            <a:extLst>
              <a:ext uri="{FF2B5EF4-FFF2-40B4-BE49-F238E27FC236}">
                <a16:creationId xmlns:a16="http://schemas.microsoft.com/office/drawing/2014/main" id="{86201A7C-4117-4099-8D6E-10A14EDF6F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>
            <a:alphaModFix/>
          </a:blip>
          <a:srcRect r="-1" b="278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E15B30-59B2-DF4F-AD23-92BE130D02C9}"/>
              </a:ext>
            </a:extLst>
          </p:cNvPr>
          <p:cNvSpPr/>
          <p:nvPr/>
        </p:nvSpPr>
        <p:spPr>
          <a:xfrm>
            <a:off x="1" y="0"/>
            <a:ext cx="12192000" cy="2417379"/>
          </a:xfrm>
          <a:prstGeom prst="rect">
            <a:avLst/>
          </a:prstGeom>
          <a:solidFill>
            <a:srgbClr val="083112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CA4EBA3-69FD-86A3-963B-CFB571ACC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010683F-ADA8-0925-A549-402A54DF1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9E982-1ABA-974A-8420-9EDCBD8EFF45}"/>
              </a:ext>
            </a:extLst>
          </p:cNvPr>
          <p:cNvSpPr/>
          <p:nvPr/>
        </p:nvSpPr>
        <p:spPr>
          <a:xfrm>
            <a:off x="-4690" y="6192"/>
            <a:ext cx="12192000" cy="2417379"/>
          </a:xfrm>
          <a:prstGeom prst="rect">
            <a:avLst/>
          </a:prstGeom>
          <a:solidFill>
            <a:srgbClr val="083112"/>
          </a:solidFill>
          <a:ln>
            <a:solidFill>
              <a:srgbClr val="086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B59618-7D9C-9DA9-7A3E-B37611D790E0}"/>
              </a:ext>
            </a:extLst>
          </p:cNvPr>
          <p:cNvSpPr txBox="1">
            <a:spLocks/>
          </p:cNvSpPr>
          <p:nvPr/>
        </p:nvSpPr>
        <p:spPr>
          <a:xfrm>
            <a:off x="996275" y="156477"/>
            <a:ext cx="10190071" cy="13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Economica"/>
                <a:cs typeface="Arial" panose="020B0604020202020204" pitchFamily="34" charset="0"/>
                <a:sym typeface="Economic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br>
              <a:rPr lang="en-US" b="1">
                <a:solidFill>
                  <a:schemeClr val="bg1"/>
                </a:solidFill>
              </a:rPr>
            </a:b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Fundamentos de Políticas Públicas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 2026.2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94E1C84-DB72-2100-C415-34FF087C70D3}"/>
              </a:ext>
            </a:extLst>
          </p:cNvPr>
          <p:cNvSpPr txBox="1">
            <a:spLocks/>
          </p:cNvSpPr>
          <p:nvPr/>
        </p:nvSpPr>
        <p:spPr>
          <a:xfrm>
            <a:off x="1218708" y="1646599"/>
            <a:ext cx="9781327" cy="686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8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 sz="2200" b="1">
                <a:solidFill>
                  <a:schemeClr val="bg1"/>
                </a:solidFill>
              </a:rPr>
              <a:t>Segunda-feira e Quarta-feira </a:t>
            </a:r>
            <a:br>
              <a:rPr lang="en-US" sz="2200" b="1">
                <a:solidFill>
                  <a:schemeClr val="bg1"/>
                </a:solidFill>
              </a:rPr>
            </a:br>
            <a:r>
              <a:rPr lang="en-US" sz="2200" b="1">
                <a:solidFill>
                  <a:schemeClr val="bg1"/>
                </a:solidFill>
              </a:rPr>
              <a:t>20:50 – 22:30</a:t>
            </a:r>
            <a:endParaRPr lang="en-US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23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A4D857E9-DB8D-E74E-AA6B-757406060076}" vid="{B690BDDB-4FFB-5D4E-857C-26A295B103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1472</TotalTime>
  <Words>720</Words>
  <Application>Microsoft Macintosh PowerPoint</Application>
  <PresentationFormat>Widescreen</PresentationFormat>
  <Paragraphs>117</Paragraphs>
  <Slides>23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Economica</vt:lpstr>
      <vt:lpstr>Open Sans</vt:lpstr>
      <vt:lpstr>Custom</vt:lpstr>
      <vt:lpstr>  Fundamentos de Políticas Públicas  2026.2</vt:lpstr>
      <vt:lpstr>Bem-vindos e bem-vindas!</vt:lpstr>
      <vt:lpstr>Sobre mim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Escritório: IPOL/IREL A1 67/7</vt:lpstr>
      <vt:lpstr>Agora sobre vocês</vt:lpstr>
      <vt:lpstr>Bem-vindos!</vt:lpstr>
      <vt:lpstr>Curva de Notas</vt:lpstr>
      <vt:lpstr>Curva de Notas</vt:lpstr>
      <vt:lpstr>Bem-vindos!</vt:lpstr>
      <vt:lpstr>Está na ementa!!!</vt:lpstr>
      <vt:lpstr>Bem-vindos!</vt:lpstr>
      <vt:lpstr>Email como um profissional</vt:lpstr>
      <vt:lpstr>E-mail NÃO profissional</vt:lpstr>
      <vt:lpstr>Email profissional</vt:lpstr>
      <vt:lpstr>Horário de horário de atendimento! Para que servem?</vt:lpstr>
      <vt:lpstr>Peça ajuda!</vt:lpstr>
      <vt:lpstr>Dicas para o sucesso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Meteorological Changes and Mitigation Policy </dc:title>
  <dc:creator>Talbot M Andrews</dc:creator>
  <cp:lastModifiedBy>ROBERT LEE BORGES DE PAULA VIDIGAL</cp:lastModifiedBy>
  <cp:revision>55</cp:revision>
  <dcterms:created xsi:type="dcterms:W3CDTF">2020-11-19T19:48:25Z</dcterms:created>
  <dcterms:modified xsi:type="dcterms:W3CDTF">2026-08-12T14:24:20Z</dcterms:modified>
</cp:coreProperties>
</file>